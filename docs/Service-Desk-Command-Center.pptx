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1A4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41A42"/>
                </a:solidFill>
                <a:latin typeface="Calibri"/>
              </a:rPr>
              <a:t>The five heaviest classes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spPr>
            <a:solidFill>
              <a:srgbClr val="141A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B7391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1A4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4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A2D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Shared drive</c:v>
                  </c:pt>
                  <c:pt idx="1">
                    <c:v>Printers offline</c:v>
                  </c:pt>
                  <c:pt idx="2">
                    <c:v>Mailbox quota</c:v>
                  </c:pt>
                  <c:pt idx="3">
                    <c:v>Guest wifi</c:v>
                  </c:pt>
                  <c:pt idx="4">
                    <c:v>Password resets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</c:v>
                </c:pt>
                <c:pt idx="1">
                  <c:v>43</c:v>
                </c:pt>
                <c:pt idx="2">
                  <c:v>43</c:v>
                </c:pt>
                <c:pt idx="3">
                  <c:v>40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6B7391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A42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Elimination page already loaded. Lead with the idea, not the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Everyone else closes tickets faster. We think that is the wrong goal.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really one idea: knowing where its own judgement runs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whole differentiator in one example. Say "gone", not "prevented".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"never blended" line is the one that shows you expected to be challenged.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 here. This is the moment that lands.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Offer to change a threshold live if they want to see it take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"tell me a joke" into the AI Manager live. The refusal is the proof.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zero is the point: the hard rule is that Auto decides and this repo displays.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live app here. Localhost, not the hosted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380. Do not add anything after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22860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3258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AUTOPILOT ASIA 2026 · ROUND 2 · TRACK 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77240" y="178308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</a:t>
            </a:r>
            <a:endParaRPr lang="en-US" sz="5400" dirty="0"/>
          </a:p>
          <a:p>
            <a:pPr indent="0" marL="0">
              <a:lnSpc>
                <a:spcPts val="62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Center.</a:t>
            </a:r>
            <a:endParaRPr lang="en-US" sz="5400" dirty="0"/>
          </a:p>
        </p:txBody>
      </p:sp>
      <p:sp>
        <p:nvSpPr>
          <p:cNvPr id="6" name="Text 2"/>
          <p:cNvSpPr/>
          <p:nvPr/>
        </p:nvSpPr>
        <p:spPr>
          <a:xfrm>
            <a:off x="7772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C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Employee that eliminates problems instead of processing tickets.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777240" y="47548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200" dirty="0"/>
          </a:p>
        </p:txBody>
      </p:sp>
      <p:sp>
        <p:nvSpPr>
          <p:cNvPr id="8" name="Text 4"/>
          <p:cNvSpPr/>
          <p:nvPr/>
        </p:nvSpPr>
        <p:spPr>
          <a:xfrm>
            <a:off x="777240" y="562356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tickets faster is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goal.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44 people request shared drive access every month, resolving those tickets quickly is being efficient at something that should not be happening.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43484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else optimises the queue. We went after what keeps filling it.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7315200" y="2331720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61504" y="2459736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07808" y="2587752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54112" y="2715768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00416" y="2843784"/>
            <a:ext cx="3657600" cy="566928"/>
          </a:xfrm>
          <a:prstGeom prst="roundRect">
            <a:avLst>
              <a:gd name="adj" fmla="val 12903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8620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tickets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235440" y="3767328"/>
            <a:ext cx="329184" cy="566928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0" y="4572000"/>
            <a:ext cx="3657600" cy="786384"/>
          </a:xfrm>
          <a:prstGeom prst="roundRect">
            <a:avLst>
              <a:gd name="adj" fmla="val 11628"/>
            </a:avLst>
          </a:prstGeom>
          <a:solidFill>
            <a:srgbClr val="141A42"/>
          </a:solidFill>
          <a:ln w="12700">
            <a:solidFill>
              <a:srgbClr val="141A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0" y="4572000"/>
            <a:ext cx="3657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root cause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DIFFERENT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choices. One idea.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984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6984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6984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the tickets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06984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root cause, propose the permanent fix, name the owner.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768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9028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028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59028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when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9028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refusal reasons, none overridable by urgency.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818120" y="2286000"/>
            <a:ext cx="3200400" cy="2286000"/>
          </a:xfrm>
          <a:prstGeom prst="roundRect">
            <a:avLst>
              <a:gd name="adj" fmla="val 4800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10728" y="2560320"/>
            <a:ext cx="475488" cy="475488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10728" y="2560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110728" y="3200400"/>
            <a:ext cx="2615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110728" y="3767328"/>
            <a:ext cx="26151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the same instinct: knowing where its own judgement runs out.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STOP THE TICKETS HAPPENING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password resets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one problem.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service desk resolves 37 tickets. Our agent noticed they were the same problem, checked the knowledge base, found no self-service route, and proposed building one.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3840480"/>
            <a:ext cx="932688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385876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A2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435608" y="4059936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Self-Service Password Reset portal integrated with MFA, so users verify their own identity and reset credentials without help desk intervention.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35608" y="48097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BY THE CORRELATOR · OWNER: IAM TEAM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55321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37 tickets stop arriving.  </a:t>
            </a:r>
            <a:pPr indent="0" marL="0">
              <a:buNone/>
            </a:pPr>
            <a:r>
              <a:rPr lang="en-US" sz="21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resolved faster. Gone.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AT SCALE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tickets.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actual problems.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1752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numbers, never blended. One is work already avoided. The other is conditional on a human approving each fix.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297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5000" dirty="0"/>
          </a:p>
        </p:txBody>
      </p:sp>
      <p:sp>
        <p:nvSpPr>
          <p:cNvPr id="7" name="Text 4"/>
          <p:cNvSpPr/>
          <p:nvPr/>
        </p:nvSpPr>
        <p:spPr>
          <a:xfrm>
            <a:off x="777240" y="51937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COLLAPSED TODAY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AVOIDED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291840" y="429768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3291840" y="51937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PREVENTABLE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FORECAST</a:t>
            </a:r>
            <a:endParaRPr lang="en-US" sz="10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400800" y="1371600"/>
          <a:ext cx="51206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KNOW WHEN TO STOP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refused the most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ticket in the queue.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301752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priority. Already past SLA. A known fix available. Every incentive said act.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stopped because two employees share a display name and it could not tell which of them had raised it. Applying a fix to the wrong person’s account to hit a deadline is not a win.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777240" y="49834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777240" y="585216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HELD BACK FOR THAT REASON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223760" y="13716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PRECEDENCE, TOP DOWN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23760" y="1783080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141A42"/>
          </a:solidFill>
          <a:ln w="12700">
            <a:solidFill>
              <a:srgbClr val="141A4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52360" y="191109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control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452360" y="222199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 approval outranks everything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162288" y="2642616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23760" y="2807208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29352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change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452360" y="324612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automated, whatever the confidence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9162288" y="3666744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223760" y="3831336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52360" y="395935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452360" y="427024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match, or stop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162288" y="4690872"/>
            <a:ext cx="146304" cy="146304"/>
          </a:xfrm>
          <a:prstGeom prst="downArrow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223760" y="4855464"/>
            <a:ext cx="4206240" cy="841248"/>
          </a:xfrm>
          <a:prstGeom prst="roundRect">
            <a:avLst>
              <a:gd name="adj" fmla="val 10870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52360" y="498348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452360" y="52943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gate, escalate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AND IT IS AUDITABLE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has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 on the record.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ITSM-2212 had a fix ready and an open change request awaiting board approval. Change control outranks confidence, so the agent opened the approval in GitHub rather than shipping. A human reviewed it and upheld the block.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77724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15,294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77724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EVALUATIONS LOGGED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93192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393192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EDITABLE WITHOUT CODE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086600" y="411480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</a:t>
            </a:r>
            <a:endParaRPr lang="en-US" sz="5200" dirty="0"/>
          </a:p>
        </p:txBody>
      </p:sp>
      <p:sp>
        <p:nvSpPr>
          <p:cNvPr id="11" name="Text 8"/>
          <p:cNvSpPr/>
          <p:nvPr/>
        </p:nvSpPr>
        <p:spPr>
          <a:xfrm>
            <a:off x="7086600" y="4983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A HUMAN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77240" y="5623560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evaluation names the rule, the threshold in force at that moment, and what it was compared against. A later edit never rewrites history.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NEVER INVENT A NUMBER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6309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our metrics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A6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deliberately blank.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77240" y="29718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 reports resolution timestamps, so MTTR would have to be inferred. The dashboard shows a dash and prints the reason underneath.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77240" y="3977640"/>
            <a:ext cx="9326880" cy="1417320"/>
          </a:xfrm>
          <a:prstGeom prst="roundRect">
            <a:avLst>
              <a:gd name="adj" fmla="val 6452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3995928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AA2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1435608" y="4197096"/>
            <a:ext cx="8412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i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something outside what the agents actually observed and it says: I can’t answer that from agent data, so I won’t guess.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435608" y="494690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MANAGER HOLDS NO LANGUAGE MODEL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77240" y="5669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dash is honest. A zero is a claim.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406640" y="1417320"/>
            <a:ext cx="4023360" cy="2103120"/>
          </a:xfrm>
          <a:prstGeom prst="roundRect">
            <a:avLst>
              <a:gd name="adj" fmla="val 5217"/>
            </a:avLst>
          </a:prstGeom>
          <a:solidFill>
            <a:srgbClr val="F4F5F9"/>
          </a:solidFill>
          <a:ln w="12700">
            <a:solidFill>
              <a:srgbClr val="E8EB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2668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726680" y="19659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5400" dirty="0"/>
          </a:p>
        </p:txBody>
      </p:sp>
      <p:sp>
        <p:nvSpPr>
          <p:cNvPr id="14" name="Text 11"/>
          <p:cNvSpPr/>
          <p:nvPr/>
        </p:nvSpPr>
        <p:spPr>
          <a:xfrm>
            <a:off x="7726680" y="28346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Operator reports resolution timestamps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RUNS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058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Orchestrator. Seven Operators.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4160520" y="1965960"/>
            <a:ext cx="3840480" cy="777240"/>
          </a:xfrm>
          <a:prstGeom prst="roundRect">
            <a:avLst>
              <a:gd name="adj" fmla="val 14118"/>
            </a:avLst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160520" y="196596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Desk Orchestrator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80760" y="2743200"/>
            <a:ext cx="0" cy="384048"/>
          </a:xfrm>
          <a:prstGeom prst="line">
            <a:avLst/>
          </a:prstGeom>
          <a:noFill/>
          <a:ln w="19050">
            <a:solidFill>
              <a:srgbClr val="3E478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8493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8493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3085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3085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Correlator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7677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7677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Policy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22692" y="312724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22692" y="312724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70789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0789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35381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5381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999732" y="4224528"/>
            <a:ext cx="1481328" cy="896112"/>
          </a:xfrm>
          <a:prstGeom prst="roundRect">
            <a:avLst>
              <a:gd name="adj" fmla="val 10204"/>
            </a:avLst>
          </a:prstGeom>
          <a:solidFill>
            <a:srgbClr val="1E2551"/>
          </a:solidFill>
          <a:ln w="12700">
            <a:solidFill>
              <a:srgbClr val="2E376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99732" y="4224528"/>
            <a:ext cx="1481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CSAT &amp;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2884932" y="2962656"/>
            <a:ext cx="6419088" cy="0"/>
          </a:xfrm>
          <a:prstGeom prst="line">
            <a:avLst/>
          </a:prstGeom>
          <a:noFill/>
          <a:ln w="19050">
            <a:solidFill>
              <a:srgbClr val="3E47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724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</a:t>
            </a:r>
            <a:endParaRPr lang="en-US" sz="5200" dirty="0"/>
          </a:p>
        </p:txBody>
      </p:sp>
      <p:sp>
        <p:nvSpPr>
          <p:cNvPr id="24" name="Text 21"/>
          <p:cNvSpPr/>
          <p:nvPr/>
        </p:nvSpPr>
        <p:spPr>
          <a:xfrm>
            <a:off x="77724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RUNS · 99.3% SUCCESS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393192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5200" dirty="0"/>
          </a:p>
        </p:txBody>
      </p:sp>
      <p:sp>
        <p:nvSpPr>
          <p:cNvPr id="26" name="Text 23"/>
          <p:cNvSpPr/>
          <p:nvPr/>
        </p:nvSpPr>
        <p:spPr>
          <a:xfrm>
            <a:off x="393192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INTEGRATIONS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086600" y="534924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200" dirty="0"/>
          </a:p>
        </p:txBody>
      </p:sp>
      <p:sp>
        <p:nvSpPr>
          <p:cNvPr id="28" name="Text 25"/>
          <p:cNvSpPr/>
          <p:nvPr/>
        </p:nvSpPr>
        <p:spPr>
          <a:xfrm>
            <a:off x="7086600" y="621792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IN OUR CODEBASE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66928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05156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look 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thing.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777240" y="3008376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30083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307592" y="2990088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Elimination Backlog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ranked classes and their proposed fixes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77240" y="3666744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07592" y="364845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timeline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full cycle, step by step, with the raw output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7240" y="4325112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4325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307592" y="4306824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threshold, watch it take effect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77240" y="4983480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724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307592" y="4965192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 reasons the agent stopped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77240" y="5641848"/>
            <a:ext cx="310896" cy="310896"/>
          </a:xfrm>
          <a:prstGeom prst="ellipse">
            <a:avLst/>
          </a:prstGeom>
          <a:solidFill>
            <a:srgbClr val="8AA2DF"/>
          </a:solidFill>
          <a:ln w="12700">
            <a:solidFill>
              <a:srgbClr val="8AA2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5641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307592" y="5623560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A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Data Manager   </a:t>
            </a:r>
            <a:pPr indent="0" marL="0">
              <a:buNone/>
            </a:pPr>
            <a:r>
              <a:rPr lang="en-US" sz="1600" dirty="0">
                <a:solidFill>
                  <a:srgbClr val="6B73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noticed, and honest health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4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tretch>
            <a:fillRect/>
          </a:stretch>
        </p:blipFill>
        <p:spPr>
          <a:xfrm>
            <a:off x="9966960" y="4297680"/>
            <a:ext cx="3291840" cy="32918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02920"/>
            <a:ext cx="22860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77240" y="1463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ACTS FAST IS EASY TO BUILD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777240" y="19202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that stops is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you would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deploy.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777240" y="484632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AA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</a:t>
            </a:r>
            <a:endParaRPr lang="en-US" sz="5200" dirty="0"/>
          </a:p>
        </p:txBody>
      </p:sp>
      <p:sp>
        <p:nvSpPr>
          <p:cNvPr id="7" name="Text 3"/>
          <p:cNvSpPr/>
          <p:nvPr/>
        </p:nvSpPr>
        <p:spPr>
          <a:xfrm>
            <a:off x="777240" y="57150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8AE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THAT NEED NEVER HAPPEN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11247120" y="6263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Desk Command Center — Autopilot Asia 2026</dc:title>
  <dc:subject>PptxGenJS Presentation</dc:subject>
  <dc:creator>Service Desk Command Center</dc:creator>
  <cp:lastModifiedBy>Service Desk Command Center</cp:lastModifiedBy>
  <cp:revision>1</cp:revision>
  <dcterms:created xsi:type="dcterms:W3CDTF">2026-08-08T09:03:22Z</dcterms:created>
  <dcterms:modified xsi:type="dcterms:W3CDTF">2026-08-08T09:03:22Z</dcterms:modified>
</cp:coreProperties>
</file>