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4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A42"/>
                </a:solidFill>
                <a:latin typeface="Calibri"/>
              </a:rPr>
              <a:t>The five heaviest classes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141A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739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1A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4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A2D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2D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A2D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Shared drive</c:v>
                  </c:pt>
                  <c:pt idx="1">
                    <c:v>Printers offline</c:v>
                  </c:pt>
                  <c:pt idx="2">
                    <c:v>Mailbox quota</c:v>
                  </c:pt>
                  <c:pt idx="3">
                    <c:v>Guest wifi</c:v>
                  </c:pt>
                  <c:pt idx="4">
                    <c:v>Password resets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43</c:v>
                </c:pt>
                <c:pt idx="2">
                  <c:v>43</c:v>
                </c:pt>
                <c:pt idx="3">
                  <c:v>40</c:v>
                </c:pt>
                <c:pt idx="4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6B739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A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Elimination page already loaded. Lead with the idea, not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else closes tickets faster. We think that is the wrong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really one idea: knowing where its own judgement runs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differentiator in one example. Say "gone", not "prevented".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"never blended" line is the one that shows you expected to be challenged.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moment that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change a threshold live if they want to see it take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"tell me a joke" into the AI Manager live. The refusal is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 is the point: the hard rule is that Auto decides and this repo displays.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Localhost, not the hosted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380. Do not add anything after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2286000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13258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ASIA 2026 · ROUND 2 · TRACK 3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Center.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7772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Employee that eliminates problems instead of processing tickets.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777240" y="4754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777240" y="56235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THAT NEED NEVER HAPPEN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tickets faster is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5A6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goal.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3063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44 people request shared drive access every month, resolving those tickets quickly is being efficient at something that should not be happening.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4434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optimises the queue. We went after what keeps filling it.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15200" y="233172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61504" y="2459736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7808" y="2587752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54112" y="271576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00416" y="2843784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862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tickets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235440" y="3767328"/>
            <a:ext cx="329184" cy="566928"/>
          </a:xfrm>
          <a:prstGeom prst="downArrow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0" y="4572000"/>
            <a:ext cx="3657600" cy="786384"/>
          </a:xfrm>
          <a:prstGeom prst="roundRect">
            <a:avLst>
              <a:gd name="adj" fmla="val 11628"/>
            </a:avLst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457200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root cause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choices. One idea.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7240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9848" y="2560320"/>
            <a:ext cx="475488" cy="475488"/>
          </a:xfrm>
          <a:prstGeom prst="ellipse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69848" y="320040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tickets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" y="3767328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root cause, propose the permanent fix, name the owner.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2560320"/>
            <a:ext cx="475488" cy="475488"/>
          </a:xfrm>
          <a:prstGeom prst="ellipse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028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90288" y="320040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90288" y="3767328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refusal reasons, none overridable by urgency.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18120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10728" y="2560320"/>
            <a:ext cx="475488" cy="475488"/>
          </a:xfrm>
          <a:prstGeom prst="ellipse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1072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10728" y="320040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10728" y="3767328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 is honest. A zero is a claim.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the same instinct: knowing where its own judgement runs out.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STOP THE TICKETS HAPPENING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password resets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5A6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one problem.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service desk resolves 37 tickets. Our agent noticed they were the same problem, checked the knowledge base, found no self-service route, and proposed building one.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" y="3840480"/>
            <a:ext cx="932688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3858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A2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435608" y="40599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Self-Service Password Reset portal integrated with MFA, so users verify their own identity and reset credentials without help desk intervention.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35608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THE CORRELATOR · OWNER: IAM TEAM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55321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37 tickets stop arriving.  </a:t>
            </a:r>
            <a:pPr indent="0" marL="0">
              <a:buNone/>
            </a:pPr>
            <a:r>
              <a:rPr lang="en-US" sz="2100" b="1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resolved faster. Gone.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AT SCALE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tickets.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actual problems.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30175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numbers, never blended. One is work already avoided. The other is conditional on a human approving each fix.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4297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TODAY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AVOIDED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91840" y="4297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3291840" y="519379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0" y="13716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KNOW WHEN TO STOP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refused the most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ticket in the queue.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30175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priority. Already past SLA. A known fix available. Every incentive said act.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36576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stopped because two employees share a display name and it could not tell which of them had raised it. Applying a fix to the wrong person’s account to hit a deadline is not a win.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4983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77240" y="58521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HELD BACK FOR THAT REASON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2376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PRECEDENCE, TOP DOWN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23760" y="1783080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52360" y="1911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2360" y="22219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approval outranks everything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162288" y="2642616"/>
            <a:ext cx="146304" cy="146304"/>
          </a:xfrm>
          <a:prstGeom prst="downArrow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23760" y="2807208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29352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change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52360" y="3246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automated, whatever the confidence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162288" y="3666744"/>
            <a:ext cx="146304" cy="146304"/>
          </a:xfrm>
          <a:prstGeom prst="downArrow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0" y="3831336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39593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52360" y="4270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match, or stop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162288" y="4690872"/>
            <a:ext cx="146304" cy="146304"/>
          </a:xfrm>
          <a:prstGeom prst="downArrow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23760" y="4855464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49834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452360" y="52943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gate, escalate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AND IT IS AUDITABLE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refusal has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5A6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on the record.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ITSM-2212 had a fix ready and an open change request awaiting board approval. Change control outranks confidence, so the agent opened the approval in GitHub rather than shipping. A human reviewed it and upheld the block.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41148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9,752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77240" y="49834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EVALUATIONS LOGGED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31920" y="41148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931920" y="49834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EDITABLE WITHOUT CODE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86600" y="41148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7086600" y="49834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 HUMAN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56235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evaluation names the rule, the threshold in force at that moment, and what it was compared against. A later edit never rewrites history.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NEVER INVENT A NUMBER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our metrics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5A6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deliberately blank.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Operator reports resolution timestamps, so MTTR would have to be inferred. The dashboard shows a dash and prints the reason underneath.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" y="3977640"/>
            <a:ext cx="932688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39959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A2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435608" y="419709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something outside what the agents actually observed and it says: I can’t answer that from agent data, so I won’t guess.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35608" y="49469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MANAGER HOLDS NO LANGUAGE MODEL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5669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 is honest. A zero is a claim.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06640" y="141732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4F5F9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26680" y="19659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4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772668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Operator reports resolution timestamps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05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Orchestrator. Seven Operators.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160520" y="196596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0520" y="1965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 Orchestrator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0760" y="2743200"/>
            <a:ext cx="0" cy="384048"/>
          </a:xfrm>
          <a:prstGeom prst="line">
            <a:avLst/>
          </a:prstGeom>
          <a:noFill/>
          <a:ln w="19050">
            <a:solidFill>
              <a:srgbClr val="3E47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4932" y="3127248"/>
            <a:ext cx="1481328" cy="896112"/>
          </a:xfrm>
          <a:prstGeom prst="roundRect">
            <a:avLst>
              <a:gd name="adj" fmla="val 10204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84932" y="3127248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30852" y="3127248"/>
            <a:ext cx="1481328" cy="896112"/>
          </a:xfrm>
          <a:prstGeom prst="roundRect">
            <a:avLst>
              <a:gd name="adj" fmla="val 10204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0852" y="3127248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6772" y="3127248"/>
            <a:ext cx="1481328" cy="896112"/>
          </a:xfrm>
          <a:prstGeom prst="roundRect">
            <a:avLst>
              <a:gd name="adj" fmla="val 10204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6772" y="3127248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Policy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822692" y="3127248"/>
            <a:ext cx="1481328" cy="896112"/>
          </a:xfrm>
          <a:prstGeom prst="roundRect">
            <a:avLst>
              <a:gd name="adj" fmla="val 10204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22692" y="3127248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07892" y="4224528"/>
            <a:ext cx="1481328" cy="896112"/>
          </a:xfrm>
          <a:prstGeom prst="roundRect">
            <a:avLst>
              <a:gd name="adj" fmla="val 10204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07892" y="4224528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353812" y="4224528"/>
            <a:ext cx="1481328" cy="896112"/>
          </a:xfrm>
          <a:prstGeom prst="roundRect">
            <a:avLst>
              <a:gd name="adj" fmla="val 10204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53812" y="4224528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999732" y="4224528"/>
            <a:ext cx="1481328" cy="896112"/>
          </a:xfrm>
          <a:prstGeom prst="roundRect">
            <a:avLst>
              <a:gd name="adj" fmla="val 10204"/>
            </a:avLst>
          </a:prstGeom>
          <a:solidFill>
            <a:srgbClr val="1E2551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9732" y="4224528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&amp;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884932" y="2962656"/>
            <a:ext cx="6419088" cy="0"/>
          </a:xfrm>
          <a:prstGeom prst="line">
            <a:avLst/>
          </a:prstGeom>
          <a:noFill/>
          <a:ln w="19050">
            <a:solidFill>
              <a:srgbClr val="3E47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349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5200" dirty="0"/>
          </a:p>
        </p:txBody>
      </p:sp>
      <p:sp>
        <p:nvSpPr>
          <p:cNvPr id="24" name="Text 21"/>
          <p:cNvSpPr/>
          <p:nvPr/>
        </p:nvSpPr>
        <p:spPr>
          <a:xfrm>
            <a:off x="777240" y="62179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· 97.8% SUCCESS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931920" y="5349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 dirty="0"/>
          </a:p>
        </p:txBody>
      </p:sp>
      <p:sp>
        <p:nvSpPr>
          <p:cNvPr id="26" name="Text 23"/>
          <p:cNvSpPr/>
          <p:nvPr/>
        </p:nvSpPr>
        <p:spPr>
          <a:xfrm>
            <a:off x="3931920" y="62179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086600" y="5349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28" name="Text 25"/>
          <p:cNvSpPr/>
          <p:nvPr/>
        </p:nvSpPr>
        <p:spPr>
          <a:xfrm>
            <a:off x="7086600" y="62179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IN OUR CODEBASE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look at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thing.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7240" y="3008376"/>
            <a:ext cx="310896" cy="310896"/>
          </a:xfrm>
          <a:prstGeom prst="ellipse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07592" y="29900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Backlog   </a:t>
            </a:r>
            <a:pPr indent="0" marL="0">
              <a:buNone/>
            </a:pPr>
            <a:r>
              <a:rPr lang="en-US" sz="16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ranked classes and their proposed fixes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3666744"/>
            <a:ext cx="310896" cy="310896"/>
          </a:xfrm>
          <a:prstGeom prst="ellipse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07592" y="364845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timeline   </a:t>
            </a:r>
            <a:pPr indent="0" marL="0">
              <a:buNone/>
            </a:pPr>
            <a:r>
              <a:rPr lang="en-US" sz="16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cycle, step by step, with the raw output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7240" y="4325112"/>
            <a:ext cx="310896" cy="310896"/>
          </a:xfrm>
          <a:prstGeom prst="ellipse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07592" y="430682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  </a:t>
            </a:r>
            <a:pPr indent="0" marL="0">
              <a:buNone/>
            </a:pPr>
            <a:r>
              <a:rPr lang="en-US" sz="16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threshold, watch it take effect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" y="4983480"/>
            <a:ext cx="310896" cy="310896"/>
          </a:xfrm>
          <a:prstGeom prst="ellipse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07592" y="496519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  </a:t>
            </a:r>
            <a:pPr indent="0" marL="0">
              <a:buNone/>
            </a:pPr>
            <a:r>
              <a:rPr lang="en-US" sz="16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reasons the agent stopped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" y="5641848"/>
            <a:ext cx="310896" cy="310896"/>
          </a:xfrm>
          <a:prstGeom prst="ellipse">
            <a:avLst/>
          </a:prstGeom>
          <a:solidFill>
            <a:srgbClr val="8AA2DF"/>
          </a:solidFill>
          <a:ln w="12700">
            <a:solidFill>
              <a:srgbClr val="8AA2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641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07592" y="56235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Data Manager   </a:t>
            </a:r>
            <a:pPr indent="0" marL="0">
              <a:buNone/>
            </a:pPr>
            <a:r>
              <a:rPr lang="en-US" sz="1600" dirty="0">
                <a:solidFill>
                  <a:srgbClr val="6B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noticed, and honest health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9966960" y="4297680"/>
            <a:ext cx="3291840" cy="32918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2286000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1463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ACTS FAST IS EASY TO BUILD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777240" y="192024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stops is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you would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deploy.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777240" y="4846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A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777240" y="57150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THAT NEED NEVER HAPPEN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Desk Command Center — Autopilot Asia 2026</dc:title>
  <dc:subject>PptxGenJS Presentation</dc:subject>
  <dc:creator>Service Desk Command Center</dc:creator>
  <cp:lastModifiedBy>Service Desk Command Center</cp:lastModifiedBy>
  <cp:revision>1</cp:revision>
  <dcterms:created xsi:type="dcterms:W3CDTF">2026-08-06T14:34:00Z</dcterms:created>
  <dcterms:modified xsi:type="dcterms:W3CDTF">2026-08-06T14:34:00Z</dcterms:modified>
</cp:coreProperties>
</file>