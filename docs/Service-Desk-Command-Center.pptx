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1A4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41A42"/>
                </a:solidFill>
                <a:latin typeface="Calibri"/>
              </a:rPr>
              <a:t>The five heaviest classes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Tickets</c:v>
                </c:pt>
              </c:strCache>
            </c:strRef>
          </c:tx>
          <c:spPr>
            <a:solidFill>
              <a:srgbClr val="141A4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6B739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1A4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4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A2D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A2D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A2D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Shared drive</c:v>
                  </c:pt>
                  <c:pt idx="1">
                    <c:v>Printers offline</c:v>
                  </c:pt>
                  <c:pt idx="2">
                    <c:v>Mailbox quota</c:v>
                  </c:pt>
                  <c:pt idx="3">
                    <c:v>Guest wifi</c:v>
                  </c:pt>
                  <c:pt idx="4">
                    <c:v>Password resets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</c:v>
                </c:pt>
                <c:pt idx="1">
                  <c:v>43</c:v>
                </c:pt>
                <c:pt idx="2">
                  <c:v>43</c:v>
                </c:pt>
                <c:pt idx="3">
                  <c:v>40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6B739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A4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Elimination page already loaded. Lead with the idea, not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else closes tickets faster. We think that is the wrong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really one idea: knowing where its own judgement runs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differentiator in one example. Say "gone", not "prevented".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"never blended" line is the one that shows you expected to be challenged.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here. This is the moment that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to change a threshold live if they want to see it take effect.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"tell me a joke" into the AI Manager live. The refusal is the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zero is the point: the hard rule is that Auto decides and this repo displays.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app here. Localhost, not the hosted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380. Do not add anything after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02920"/>
            <a:ext cx="22860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7240" y="13258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AUTOPILOT ASIA 2026 · ROUND 2 · TRACK 3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77240" y="178308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Desk</a:t>
            </a:r>
            <a:endParaRPr lang="en-US" sz="54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Center.</a:t>
            </a:r>
            <a:endParaRPr lang="en-US" sz="5400" dirty="0"/>
          </a:p>
        </p:txBody>
      </p:sp>
      <p:sp>
        <p:nvSpPr>
          <p:cNvPr id="6" name="Text 2"/>
          <p:cNvSpPr/>
          <p:nvPr/>
        </p:nvSpPr>
        <p:spPr>
          <a:xfrm>
            <a:off x="7772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C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Employee that eliminates problems instead of processing tickets.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777240" y="47548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</a:t>
            </a:r>
            <a:endParaRPr lang="en-US" sz="5200" dirty="0"/>
          </a:p>
        </p:txBody>
      </p:sp>
      <p:sp>
        <p:nvSpPr>
          <p:cNvPr id="8" name="Text 4"/>
          <p:cNvSpPr/>
          <p:nvPr/>
        </p:nvSpPr>
        <p:spPr>
          <a:xfrm>
            <a:off x="777240" y="562356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THAT NEED NEVER HAPPEN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tickets faster is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goal.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44 people request shared drive access every month, resolving those tickets quickly is being efficient at something that should not be happening.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4434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else optimises the queue. We went after what keeps filling it.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315200" y="2331720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61504" y="2459736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07808" y="2587752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54112" y="2715768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00416" y="2843784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8620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tickets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235440" y="3767328"/>
            <a:ext cx="329184" cy="566928"/>
          </a:xfrm>
          <a:prstGeom prst="downArrow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0" y="4572000"/>
            <a:ext cx="3657600" cy="786384"/>
          </a:xfrm>
          <a:prstGeom prst="roundRect">
            <a:avLst>
              <a:gd name="adj" fmla="val 11628"/>
            </a:avLst>
          </a:prstGeom>
          <a:solidFill>
            <a:srgbClr val="141A42"/>
          </a:solidFill>
          <a:ln w="12700">
            <a:solidFill>
              <a:srgbClr val="141A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0" y="4572000"/>
            <a:ext cx="3657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root cause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DIFFERENT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choices. One idea.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77240" y="2286000"/>
            <a:ext cx="3200400" cy="2286000"/>
          </a:xfrm>
          <a:prstGeom prst="roundRect">
            <a:avLst>
              <a:gd name="adj" fmla="val 4800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9848" y="2560320"/>
            <a:ext cx="475488" cy="475488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69848" y="2560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69848" y="320040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the tickets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" y="3767328"/>
            <a:ext cx="2615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root cause, propose the permanent fix, name the owner.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7680" y="2286000"/>
            <a:ext cx="3200400" cy="2286000"/>
          </a:xfrm>
          <a:prstGeom prst="roundRect">
            <a:avLst>
              <a:gd name="adj" fmla="val 4800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90288" y="2560320"/>
            <a:ext cx="475488" cy="475488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0288" y="2560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590288" y="320040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90288" y="3767328"/>
            <a:ext cx="2615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refusal reasons, none overridable by urgency.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818120" y="2286000"/>
            <a:ext cx="3200400" cy="2286000"/>
          </a:xfrm>
          <a:prstGeom prst="roundRect">
            <a:avLst>
              <a:gd name="adj" fmla="val 4800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10728" y="2560320"/>
            <a:ext cx="475488" cy="475488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10728" y="2560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110728" y="320040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invent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110728" y="3767328"/>
            <a:ext cx="2615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 is honest. A zero is a claim.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5029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are the same instinct: knowing where its own judgement runs out.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STOP THE TICKETS HAPPENING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password resets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one problem.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29718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service desk resolves 37 tickets. Our agent noticed they were the same problem, checked the knowledge base, found no self-service route, and proposed building one.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77240" y="3840480"/>
            <a:ext cx="9326880" cy="1417320"/>
          </a:xfrm>
          <a:prstGeom prst="roundRect">
            <a:avLst>
              <a:gd name="adj" fmla="val 6452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41832" y="385876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AA2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435608" y="4059936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Self-Service Password Reset portal integrated with MFA, so users verify their own identity and reset credentials without help desk intervention.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35608" y="48097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BY THE CORRELATOR · OWNER: IAM TEAM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77240" y="55321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37 tickets stop arriving.  </a:t>
            </a:r>
            <a:pPr indent="0" marL="0">
              <a:buNone/>
            </a:pPr>
            <a:r>
              <a:rPr lang="en-US" sz="21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resolved faster. Gone.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AT SCALE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460 tickets.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actual problems.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301752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numbers, never blended. One is work already avoided. The other is conditional on a human approving each fix.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42976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5000" dirty="0"/>
          </a:p>
        </p:txBody>
      </p:sp>
      <p:sp>
        <p:nvSpPr>
          <p:cNvPr id="7" name="Text 4"/>
          <p:cNvSpPr/>
          <p:nvPr/>
        </p:nvSpPr>
        <p:spPr>
          <a:xfrm>
            <a:off x="777240" y="519379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COLLAPSED TODAY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AVOIDED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291840" y="42976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3291840" y="519379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PREVENTABLE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FORECAST</a:t>
            </a:r>
            <a:endParaRPr lang="en-US" sz="10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400800" y="1371600"/>
          <a:ext cx="5120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KNOW WHEN TO STOP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refused the most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ticket in the queue.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30175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priority. Already past SLA. A known fix available. Every incentive said act.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stopped because two employees share a display name and it could not tell which of them had raised it. Applying a fix to the wrong person’s account to hit a deadline is not a win.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49834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777240" y="585216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HELD BACK FOR THAT REASON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223760" y="13716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PRECEDENCE, TOP DOWN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23760" y="1783080"/>
            <a:ext cx="4206240" cy="841248"/>
          </a:xfrm>
          <a:prstGeom prst="roundRect">
            <a:avLst>
              <a:gd name="adj" fmla="val 10870"/>
            </a:avLst>
          </a:prstGeom>
          <a:solidFill>
            <a:srgbClr val="141A42"/>
          </a:solidFill>
          <a:ln w="12700">
            <a:solidFill>
              <a:srgbClr val="141A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52360" y="191109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control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452360" y="222199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approval outranks everything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162288" y="2642616"/>
            <a:ext cx="146304" cy="146304"/>
          </a:xfrm>
          <a:prstGeom prst="downArrow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223760" y="2807208"/>
            <a:ext cx="4206240" cy="841248"/>
          </a:xfrm>
          <a:prstGeom prst="roundRect">
            <a:avLst>
              <a:gd name="adj" fmla="val 10870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52360" y="293522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change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452360" y="324612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automated, whatever the confidence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162288" y="3666744"/>
            <a:ext cx="146304" cy="146304"/>
          </a:xfrm>
          <a:prstGeom prst="downArrow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223760" y="3831336"/>
            <a:ext cx="4206240" cy="841248"/>
          </a:xfrm>
          <a:prstGeom prst="roundRect">
            <a:avLst>
              <a:gd name="adj" fmla="val 10870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52360" y="395935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452360" y="427024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match, or stop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162288" y="4690872"/>
            <a:ext cx="146304" cy="146304"/>
          </a:xfrm>
          <a:prstGeom prst="downArrow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23760" y="4855464"/>
            <a:ext cx="4206240" cy="841248"/>
          </a:xfrm>
          <a:prstGeom prst="roundRect">
            <a:avLst>
              <a:gd name="adj" fmla="val 10870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52360" y="498348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452360" y="52943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gate, escalate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AND IT IS AUDITABLE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has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reason on the record.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297180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ITSM-2212 had a fix ready and an open change request awaiting board approval. Change control outranks confidence, so the agent opened the approval in GitHub rather than shipping. A human reviewed it and upheld the block.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41148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13,822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777240" y="4983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EVALUATIONS LOGGED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31920" y="41148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3931920" y="4983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EDITABLE WITHOUT CODE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086600" y="41148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7086600" y="4983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A HUMAN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562356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evaluation names the rule, the threshold in force at that moment, and what it was compared against. A later edit never rewrites history.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NEVER INVENT A NUMBER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our metrics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deliberately blank.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29718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Operator reports resolution timestamps, so MTTR would have to be inferred. The dashboard shows a dash and prints the reason underneath.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77240" y="3977640"/>
            <a:ext cx="9326880" cy="1417320"/>
          </a:xfrm>
          <a:prstGeom prst="roundRect">
            <a:avLst>
              <a:gd name="adj" fmla="val 6452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41832" y="399592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AA2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435608" y="4197096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something outside what the agents actually observed and it says: I can’t answer that from agent data, so I won’t guess.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35608" y="494690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MANAGER HOLDS NO LANGUAGE MODEL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77240" y="5669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 is honest. A zero is a claim.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406640" y="1417320"/>
            <a:ext cx="4023360" cy="2103120"/>
          </a:xfrm>
          <a:prstGeom prst="roundRect">
            <a:avLst>
              <a:gd name="adj" fmla="val 5217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2668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726680" y="19659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5400" dirty="0"/>
          </a:p>
        </p:txBody>
      </p:sp>
      <p:sp>
        <p:nvSpPr>
          <p:cNvPr id="14" name="Text 11"/>
          <p:cNvSpPr/>
          <p:nvPr/>
        </p:nvSpPr>
        <p:spPr>
          <a:xfrm>
            <a:off x="7726680" y="2834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Operator reports resolution timestamps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RUNS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058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Orchestrator. Seven Operators.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4160520" y="1965960"/>
            <a:ext cx="3840480" cy="777240"/>
          </a:xfrm>
          <a:prstGeom prst="roundRect">
            <a:avLst>
              <a:gd name="adj" fmla="val 14118"/>
            </a:avLst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160520" y="19659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Desk Orchestrator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080760" y="2743200"/>
            <a:ext cx="0" cy="384048"/>
          </a:xfrm>
          <a:prstGeom prst="line">
            <a:avLst/>
          </a:prstGeom>
          <a:noFill/>
          <a:ln w="19050">
            <a:solidFill>
              <a:srgbClr val="3E478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84932" y="312724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884932" y="31272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30852" y="312724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30852" y="31272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76772" y="312724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76772" y="31272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Policy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822692" y="312724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22692" y="31272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707892" y="422452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07892" y="42245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353812" y="422452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53812" y="42245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999732" y="422452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99732" y="42245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 &amp;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2884932" y="2962656"/>
            <a:ext cx="6419088" cy="0"/>
          </a:xfrm>
          <a:prstGeom prst="line">
            <a:avLst/>
          </a:prstGeom>
          <a:noFill/>
          <a:ln w="19050">
            <a:solidFill>
              <a:srgbClr val="3E47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53492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endParaRPr lang="en-US" sz="5200" dirty="0"/>
          </a:p>
        </p:txBody>
      </p:sp>
      <p:sp>
        <p:nvSpPr>
          <p:cNvPr id="24" name="Text 21"/>
          <p:cNvSpPr/>
          <p:nvPr/>
        </p:nvSpPr>
        <p:spPr>
          <a:xfrm>
            <a:off x="777240" y="6217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RUNS · 98.5% SUCCESS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3931920" y="53492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200" dirty="0"/>
          </a:p>
        </p:txBody>
      </p:sp>
      <p:sp>
        <p:nvSpPr>
          <p:cNvPr id="26" name="Text 23"/>
          <p:cNvSpPr/>
          <p:nvPr/>
        </p:nvSpPr>
        <p:spPr>
          <a:xfrm>
            <a:off x="3931920" y="6217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INTEGRATIONS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7086600" y="53492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5200" dirty="0"/>
          </a:p>
        </p:txBody>
      </p:sp>
      <p:sp>
        <p:nvSpPr>
          <p:cNvPr id="28" name="Text 25"/>
          <p:cNvSpPr/>
          <p:nvPr/>
        </p:nvSpPr>
        <p:spPr>
          <a:xfrm>
            <a:off x="7086600" y="6217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IN OUR CODEBASE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look at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thing.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77240" y="3008376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3008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307592" y="2990088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Elimination Backlog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ranked classes and their proposed fixes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3666744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07592" y="3648456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timeline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full cycle, step by step, with the raw output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77240" y="4325112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307592" y="4306824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 threshold, watch it take effect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77240" y="4983480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307592" y="496519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Workbench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different reasons the agent stopped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" y="5641848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5641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307592" y="562356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&amp; Data Manager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noticed, and honest health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02920"/>
            <a:ext cx="22860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7240" y="1463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ACTS FAST IS EASY TO BUILD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77240" y="192024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that stops is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you would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deploy.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777240" y="48463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</a:t>
            </a:r>
            <a:endParaRPr lang="en-US" sz="5200" dirty="0"/>
          </a:p>
        </p:txBody>
      </p:sp>
      <p:sp>
        <p:nvSpPr>
          <p:cNvPr id="7" name="Text 3"/>
          <p:cNvSpPr/>
          <p:nvPr/>
        </p:nvSpPr>
        <p:spPr>
          <a:xfrm>
            <a:off x="777240" y="57150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THAT NEED NEVER HAPPEN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Desk Command Center — Autopilot Asia 2026</dc:title>
  <dc:subject>PptxGenJS Presentation</dc:subject>
  <dc:creator>Service Desk Command Center</dc:creator>
  <cp:lastModifiedBy>Service Desk Command Center</cp:lastModifiedBy>
  <cp:revision>1</cp:revision>
  <dcterms:created xsi:type="dcterms:W3CDTF">2026-08-08T06:47:25Z</dcterms:created>
  <dcterms:modified xsi:type="dcterms:W3CDTF">2026-08-08T06:47:25Z</dcterms:modified>
</cp:coreProperties>
</file>